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011680"/>
            <a:ext cx="109728" cy="2743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19202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8FAFC"/>
                </a:solidFill>
                <a:latin typeface="Segoe UI"/>
              </a:rPr>
              <a:t>SMARTFLEET</a:t>
            </a:r>
          </a:p>
          <a:p>
            <a:r>
              <a:rPr sz="2000">
                <a:solidFill>
                  <a:srgbClr val="06B6D4"/>
                </a:solidFill>
                <a:latin typeface="Segoe UI"/>
              </a:rPr>
              <a:t>Gestion Logistique &amp; Optimisation Automatisée des Tournées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8FAFC"/>
                </a:solidFill>
              </a:rPr>
              <a:t>Plan : Introduction - Analyse - Conception - Étude Technique - Réalisation
</a:t>
            </a:r>
            <a:r>
              <a:rPr sz="1100">
                <a:solidFill>
                  <a:srgbClr val="94A3B8"/>
                </a:solidFill>
              </a:rPr>
              <a:t>Présentation de Fin de Projet  |  Génie Informatique S4  |  </a:t>
            </a:r>
            <a:r>
              <a:rPr sz="1100">
                <a:solidFill>
                  <a:srgbClr val="10B981"/>
                </a:solidFill>
              </a:rPr>
              <a:t>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Sommaire &amp; 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0116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0116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6B6D4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Contexte logistique, problématique et objectifs de SmartFleet.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20116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2011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201168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34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ANALYSE DES BESOINS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65760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Spécifications fonctionnelles, non-fonctionnelles et diagramme de cas d'utilisation.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828800"/>
            <a:ext cx="20116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37760" y="1828800"/>
            <a:ext cx="20116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201168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6B6D4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834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CONCEPTION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65760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Diagramme de classes (JPA/PostGIS) et diagrammes de séquence (optimisation et temps réel).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1828800"/>
            <a:ext cx="20116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0" y="1828800"/>
            <a:ext cx="2011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201168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0B981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834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ÉTUDE TECHNIQUE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65760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Architecture hexagonale, OR-Tools VRP, Valhalla Routing et sécurité JWT custom.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828800"/>
            <a:ext cx="201168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26880" y="1828800"/>
            <a:ext cx="20116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64040" y="2011680"/>
            <a:ext cx="173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6B6D4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8346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FAFC"/>
                </a:solidFill>
              </a:rPr>
              <a:t>RÉALISATION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65760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Livrables du projet, environnement Docker Compose et planning d'implémentation (Gantt).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Contexte &amp; Problématique Logistique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035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7548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Segoe UI"/>
              </a:rPr>
              <a:t>La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8FAFC"/>
                </a:solidFill>
                <a:latin typeface="Segoe UI"/>
              </a:rPr>
              <a:t>Coûts opérationnels en hausse : Carburant, entretien des véhicules et temps perdu sur la route augmentent les charges.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8FAFC"/>
                </a:solidFill>
                <a:latin typeface="Segoe UI"/>
              </a:rPr>
              <a:t>Planification manuelle inefficace : L'attribution manuelle des commandes aux chauffeurs est fastidieuse et sous-optimale.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8FAFC"/>
                </a:solidFill>
                <a:latin typeface="Segoe UI"/>
              </a:rPr>
              <a:t>Manque de visibilité : Les clients finaux ne connaissent pas l'heure exacte de livraison, nuisant à l'expérience utilisateur.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8FAFC"/>
                </a:solidFill>
                <a:latin typeface="Segoe UI"/>
              </a:rPr>
              <a:t>Contraintes complexes négligées : Gérer simultanément le volume et le poids maximum des véhicules par tournée est humainement impossible à grande échelle.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035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La Solution : SmartFleet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754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8FAFC"/>
                </a:solidFill>
                <a:latin typeface="Segoe UI"/>
              </a:rPr>
              <a:t>Optimisation Algorithmique : Intégration de Google OR-Tools pour résoudre le Vehicle Routing Problem (VRP).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8FAFC"/>
                </a:solidFill>
                <a:latin typeface="Segoe UI"/>
              </a:rPr>
              <a:t>Calcul d'itinéraires réalistes : Intégration du moteur Valhalla pour obtenir des distances, temps de trajet et polylines précises.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8FAFC"/>
                </a:solidFill>
                <a:latin typeface="Segoe UI"/>
              </a:rPr>
              <a:t>Suivi en temps réel : Utilisation de WebSockets (STOMP) pour retransmettre en direct la position GPS des chauffeurs.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8FAFC"/>
                </a:solidFill>
                <a:latin typeface="Segoe UI"/>
              </a:rPr>
              <a:t>Notifications proactives : Notifications Firebase pour prévenir d'une arrivée imminente (rayon de 1 km) ou d'un changement de statut.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02. 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Spécifications des Besoins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035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7548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Besoins Fonctionnels Clés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Gestion des programmes : Planifier des livraisons regroupées par journées.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Calcul d'itinéraires optimaux : Définir l'ordre idéal de visite des clients.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Géolocalisation en temps réel : Permettre au conducteur de transmettre son GPS toutes les 30s.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Notifications push : Alerter automatiquement les conducteurs (tournée assignée) et les clients (arrivée imminente).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035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Besoins Non-Fonctionnels &amp; Rôles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754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Sécurité renforcée : Authentification personnalisée par couple Username/Password et jetons JWT signés.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Performance système : Calcul d'optimisation robuste (&lt;1 min) et latence de tracking minimale (&lt;100ms).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Support Géospatial : Indexation PostGIS pour requêtes spatiales efficaces (conducteurs ou ordres à proximité).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Acteurs : Admin (config), Manager (dispatch), Driver (livre), Client (reçoit).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02. ANALYSE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Diagramme de Cas d'Utilisation (Use Case)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11580" y="2743200"/>
            <a:ext cx="228600" cy="228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03020" y="2971800"/>
            <a:ext cx="457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5860" y="3017520"/>
            <a:ext cx="1371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48740" y="3017520"/>
            <a:ext cx="1371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11580" y="3246120"/>
            <a:ext cx="4572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94460" y="3246120"/>
            <a:ext cx="4572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371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 dirty="0">
                <a:solidFill>
                  <a:srgbClr val="F8FAFC"/>
                </a:solidFill>
                <a:latin typeface="Segoe UI"/>
              </a:rPr>
              <a:t>Manager
(</a:t>
            </a:r>
            <a:r>
              <a:rPr sz="1000" b="1" dirty="0" err="1">
                <a:solidFill>
                  <a:srgbClr val="F8FAFC"/>
                </a:solidFill>
                <a:latin typeface="Segoe UI"/>
              </a:rPr>
              <a:t>Planificateur</a:t>
            </a:r>
            <a:r>
              <a:rPr sz="1000" b="1" dirty="0">
                <a:solidFill>
                  <a:srgbClr val="F8FAFC"/>
                </a:solidFill>
                <a:latin typeface="Segoe UI"/>
              </a:rPr>
              <a:t>)</a:t>
            </a:r>
          </a:p>
        </p:txBody>
      </p:sp>
      <p:sp>
        <p:nvSpPr>
          <p:cNvPr id="12" name="Oval 11"/>
          <p:cNvSpPr/>
          <p:nvPr/>
        </p:nvSpPr>
        <p:spPr>
          <a:xfrm>
            <a:off x="9989820" y="2011680"/>
            <a:ext cx="228600" cy="228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81260" y="2240280"/>
            <a:ext cx="457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944100" y="2286000"/>
            <a:ext cx="1371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126980" y="2286000"/>
            <a:ext cx="1371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89820" y="2514600"/>
            <a:ext cx="4572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172700" y="2514600"/>
            <a:ext cx="4572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2697480"/>
            <a:ext cx="1371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Segoe UI"/>
              </a:rPr>
              <a:t>Conducteur
(Livreur)</a:t>
            </a:r>
          </a:p>
        </p:txBody>
      </p:sp>
      <p:sp>
        <p:nvSpPr>
          <p:cNvPr id="19" name="Oval 18"/>
          <p:cNvSpPr/>
          <p:nvPr/>
        </p:nvSpPr>
        <p:spPr>
          <a:xfrm>
            <a:off x="9989820" y="4114800"/>
            <a:ext cx="228600" cy="2286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81260" y="4343400"/>
            <a:ext cx="457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44100" y="4389120"/>
            <a:ext cx="1371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26980" y="4389120"/>
            <a:ext cx="1371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89820" y="4617720"/>
            <a:ext cx="4572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72700" y="4617720"/>
            <a:ext cx="45720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4800600"/>
            <a:ext cx="1371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Segoe UI"/>
              </a:rPr>
              <a:t>Client
(Destinataire)</a:t>
            </a:r>
          </a:p>
        </p:txBody>
      </p:sp>
      <p:sp>
        <p:nvSpPr>
          <p:cNvPr id="26" name="Oval 25"/>
          <p:cNvSpPr/>
          <p:nvPr/>
        </p:nvSpPr>
        <p:spPr>
          <a:xfrm>
            <a:off x="4389120" y="1645920"/>
            <a:ext cx="3108960" cy="59436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Gérer programmes &amp; commandes</a:t>
            </a:r>
          </a:p>
        </p:txBody>
      </p:sp>
      <p:sp>
        <p:nvSpPr>
          <p:cNvPr id="27" name="Oval 26"/>
          <p:cNvSpPr/>
          <p:nvPr/>
        </p:nvSpPr>
        <p:spPr>
          <a:xfrm>
            <a:off x="4389120" y="2423160"/>
            <a:ext cx="3108960" cy="59436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Lancer l'optimisation des tournées</a:t>
            </a:r>
          </a:p>
        </p:txBody>
      </p:sp>
      <p:sp>
        <p:nvSpPr>
          <p:cNvPr id="28" name="Oval 27"/>
          <p:cNvSpPr/>
          <p:nvPr/>
        </p:nvSpPr>
        <p:spPr>
          <a:xfrm>
            <a:off x="4389120" y="3200400"/>
            <a:ext cx="3108960" cy="59436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Mettre à jour la position GPS (auto)</a:t>
            </a:r>
          </a:p>
        </p:txBody>
      </p:sp>
      <p:sp>
        <p:nvSpPr>
          <p:cNvPr id="29" name="Oval 28"/>
          <p:cNvSpPr/>
          <p:nvPr/>
        </p:nvSpPr>
        <p:spPr>
          <a:xfrm>
            <a:off x="4389120" y="3977639"/>
            <a:ext cx="3108960" cy="59436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Visualiser l'itinéraire de tournée</a:t>
            </a:r>
          </a:p>
        </p:txBody>
      </p:sp>
      <p:sp>
        <p:nvSpPr>
          <p:cNvPr id="30" name="Oval 29"/>
          <p:cNvSpPr/>
          <p:nvPr/>
        </p:nvSpPr>
        <p:spPr>
          <a:xfrm>
            <a:off x="4389120" y="4754880"/>
            <a:ext cx="3108960" cy="59436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Suivre la livraison en temps réel</a:t>
            </a:r>
          </a:p>
        </p:txBody>
      </p:sp>
      <p:sp>
        <p:nvSpPr>
          <p:cNvPr id="31" name="Oval 30"/>
          <p:cNvSpPr/>
          <p:nvPr/>
        </p:nvSpPr>
        <p:spPr>
          <a:xfrm>
            <a:off x="4389120" y="5532120"/>
            <a:ext cx="3108960" cy="59436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Approuver / Rejeter la livraison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1371600"/>
            <a:ext cx="5303520" cy="4937760"/>
          </a:xfrm>
          <a:prstGeom prst="rect">
            <a:avLst/>
          </a:prstGeom>
          <a:noFill/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83280" y="1417320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Segoe UI"/>
              </a:rPr>
              <a:t>Système SmartFleet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03.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F8FAFC"/>
                </a:solidFill>
                <a:latin typeface="Segoe UI"/>
              </a:rPr>
              <a:t>Diagramme</a:t>
            </a:r>
            <a:r>
              <a:rPr sz="2800" b="1" dirty="0">
                <a:solidFill>
                  <a:srgbClr val="F8FAFC"/>
                </a:solidFill>
                <a:latin typeface="Segoe UI"/>
              </a:rPr>
              <a:t> de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54880" y="1463040"/>
            <a:ext cx="21031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User (Abstract)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83080"/>
            <a:ext cx="21031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tlCol="0" anchor="ctr"/>
          <a:lstStyle/>
          <a:p>
            <a:pPr algn="ctr">
              <a:spcAft>
                <a:spcPts val="200"/>
              </a:spcAft>
            </a:pPr>
            <a:r>
              <a:rPr sz="750">
                <a:solidFill>
                  <a:srgbClr val="F8FAFC"/>
                </a:solidFill>
                <a:latin typeface="Consolas"/>
              </a:rPr>
              <a:t>Id</a:t>
            </a:r>
            <a:r>
              <a:rPr sz="750" dirty="0">
                <a:solidFill>
                  <a:srgbClr val="F8FAFC"/>
                </a:solidFill>
                <a:latin typeface="Consolas"/>
              </a:rPr>
              <a:t>: String
email: String
role: </a:t>
            </a:r>
            <a:r>
              <a:rPr sz="750" dirty="0" err="1">
                <a:solidFill>
                  <a:srgbClr val="F8FAFC"/>
                </a:solidFill>
                <a:latin typeface="Consolas"/>
              </a:rPr>
              <a:t>UserRole</a:t>
            </a:r>
            <a:r>
              <a:rPr sz="750" dirty="0">
                <a:solidFill>
                  <a:srgbClr val="F8FAFC"/>
                </a:solidFill>
                <a:latin typeface="Consolas"/>
              </a:rPr>
              <a:t>
active: </a:t>
            </a:r>
            <a:r>
              <a:rPr sz="750" dirty="0" err="1">
                <a:solidFill>
                  <a:srgbClr val="F8FAFC"/>
                </a:solidFill>
                <a:latin typeface="Consolas"/>
              </a:rPr>
              <a:t>boolean</a:t>
            </a:r>
            <a:endParaRPr sz="750" dirty="0">
              <a:solidFill>
                <a:srgbClr val="F8FAFC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600" dirty="0">
                <a:solidFill>
                  <a:srgbClr val="94A3B8"/>
                </a:solidFill>
              </a:rPr>
              <a:t>-----------------------</a:t>
            </a:r>
          </a:p>
          <a:p>
            <a:pPr>
              <a:spcAft>
                <a:spcPts val="200"/>
              </a:spcAft>
            </a:pPr>
            <a:r>
              <a:rPr sz="750" dirty="0" err="1">
                <a:solidFill>
                  <a:srgbClr val="10B981"/>
                </a:solidFill>
                <a:latin typeface="Consolas"/>
              </a:rPr>
              <a:t>isActive</a:t>
            </a:r>
            <a:r>
              <a:rPr sz="750" dirty="0">
                <a:solidFill>
                  <a:srgbClr val="10B981"/>
                </a:solidFill>
                <a:latin typeface="Consolas"/>
              </a:rPr>
              <a:t>(): </a:t>
            </a:r>
            <a:r>
              <a:rPr sz="750" dirty="0" err="1">
                <a:solidFill>
                  <a:srgbClr val="10B981"/>
                </a:solidFill>
                <a:latin typeface="Consolas"/>
              </a:rPr>
              <a:t>boolean</a:t>
            </a:r>
            <a:endParaRPr sz="75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363724"/>
            <a:ext cx="182880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70770"/>
            <a:ext cx="18288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tlCol="0" anchor="ctr"/>
          <a:lstStyle/>
          <a:p>
            <a:pPr algn="ctr">
              <a:spcAft>
                <a:spcPts val="200"/>
              </a:spcAft>
            </a:pPr>
            <a:r>
              <a:rPr sz="750" dirty="0" err="1">
                <a:solidFill>
                  <a:srgbClr val="F8FAFC"/>
                </a:solidFill>
                <a:latin typeface="Consolas"/>
              </a:rPr>
              <a:t>managedDrivers</a:t>
            </a:r>
            <a:r>
              <a:rPr sz="750" dirty="0">
                <a:solidFill>
                  <a:srgbClr val="F8FAFC"/>
                </a:solidFill>
                <a:latin typeface="Consolas"/>
              </a:rPr>
              <a:t>: List</a:t>
            </a:r>
          </a:p>
          <a:p>
            <a:pPr>
              <a:spcAft>
                <a:spcPts val="200"/>
              </a:spcAft>
            </a:pPr>
            <a:r>
              <a:rPr sz="600" dirty="0">
                <a:solidFill>
                  <a:srgbClr val="94A3B8"/>
                </a:solidFill>
              </a:rPr>
              <a:t>-----------------------</a:t>
            </a:r>
          </a:p>
          <a:p>
            <a:pPr>
              <a:spcAft>
                <a:spcPts val="200"/>
              </a:spcAft>
            </a:pPr>
            <a:r>
              <a:rPr sz="750" dirty="0" err="1">
                <a:solidFill>
                  <a:srgbClr val="10B981"/>
                </a:solidFill>
                <a:latin typeface="Consolas"/>
              </a:rPr>
              <a:t>createProgram</a:t>
            </a:r>
            <a:r>
              <a:rPr sz="750" dirty="0">
                <a:solidFill>
                  <a:srgbClr val="10B981"/>
                </a:solidFill>
                <a:latin typeface="Consolas"/>
              </a:rPr>
              <a:t>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017520"/>
            <a:ext cx="21031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Driver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337560"/>
            <a:ext cx="21031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tlCol="0" anchor="ctr"/>
          <a:lstStyle/>
          <a:p>
            <a:pPr algn="ctr">
              <a:spcAft>
                <a:spcPts val="200"/>
              </a:spcAft>
            </a:pPr>
            <a:r>
              <a:rPr sz="750">
                <a:solidFill>
                  <a:srgbClr val="F8FAFC"/>
                </a:solidFill>
                <a:latin typeface="Consolas"/>
              </a:rPr>
              <a:t>licenseNumber: String
currentLocation: Point
available: boolean</a:t>
            </a:r>
          </a:p>
          <a:p>
            <a:pPr>
              <a:spcAft>
                <a:spcPts val="200"/>
              </a:spcAft>
            </a:pPr>
            <a:r>
              <a:rPr sz="600">
                <a:solidFill>
                  <a:srgbClr val="94A3B8"/>
                </a:solidFill>
              </a:rPr>
              <a:t>-----------------------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0B981"/>
                </a:solidFill>
                <a:latin typeface="Consolas"/>
              </a:rPr>
              <a:t>updateLocation()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017520"/>
            <a:ext cx="182880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337560"/>
            <a:ext cx="18288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tlCol="0" anchor="ctr"/>
          <a:lstStyle/>
          <a:p>
            <a:pPr algn="ctr">
              <a:spcAft>
                <a:spcPts val="200"/>
              </a:spcAft>
            </a:pPr>
            <a:r>
              <a:rPr lang="en-US" sz="750" dirty="0" err="1">
                <a:solidFill>
                  <a:srgbClr val="F8FAFC"/>
                </a:solidFill>
                <a:latin typeface="Consolas"/>
              </a:rPr>
              <a:t>Adresse</a:t>
            </a:r>
            <a:r>
              <a:rPr sz="750" dirty="0">
                <a:solidFill>
                  <a:srgbClr val="F8FAFC"/>
                </a:solidFill>
                <a:latin typeface="Consolas"/>
              </a:rPr>
              <a:t>: String</a:t>
            </a:r>
          </a:p>
          <a:p>
            <a:pPr>
              <a:spcAft>
                <a:spcPts val="200"/>
              </a:spcAft>
            </a:pPr>
            <a:r>
              <a:rPr sz="600" dirty="0">
                <a:solidFill>
                  <a:srgbClr val="94A3B8"/>
                </a:solidFill>
              </a:rPr>
              <a:t>-----------------------</a:t>
            </a:r>
          </a:p>
          <a:p>
            <a:pPr>
              <a:spcAft>
                <a:spcPts val="200"/>
              </a:spcAft>
            </a:pPr>
            <a:r>
              <a:rPr sz="750" dirty="0" err="1">
                <a:solidFill>
                  <a:srgbClr val="10B981"/>
                </a:solidFill>
                <a:latin typeface="Consolas"/>
              </a:rPr>
              <a:t>approveOrder</a:t>
            </a:r>
            <a:r>
              <a:rPr sz="750" dirty="0">
                <a:solidFill>
                  <a:srgbClr val="10B981"/>
                </a:solidFill>
                <a:latin typeface="Consolas"/>
              </a:rPr>
              <a:t>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663440"/>
            <a:ext cx="182880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Vehicle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983480"/>
            <a:ext cx="18288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tlCol="0" anchor="ctr"/>
          <a:lstStyle/>
          <a:p>
            <a:pPr algn="ctr">
              <a:spcAft>
                <a:spcPts val="200"/>
              </a:spcAft>
            </a:pPr>
            <a:r>
              <a:rPr sz="750">
                <a:solidFill>
                  <a:srgbClr val="F8FAFC"/>
                </a:solidFill>
                <a:latin typeface="Consolas"/>
              </a:rPr>
              <a:t>capacityKg: double
capacityM2: double
licensePlate: String</a:t>
            </a:r>
          </a:p>
          <a:p>
            <a:pPr>
              <a:spcAft>
                <a:spcPts val="200"/>
              </a:spcAft>
            </a:pPr>
            <a:r>
              <a:rPr sz="600">
                <a:solidFill>
                  <a:srgbClr val="94A3B8"/>
                </a:solidFill>
              </a:rPr>
              <a:t>-----------------------</a:t>
            </a:r>
          </a:p>
          <a:p>
            <a:pPr>
              <a:spcAft>
                <a:spcPts val="200"/>
              </a:spcAft>
            </a:pPr>
            <a:endParaRPr sz="600">
              <a:solidFill>
                <a:srgbClr val="94A3B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54880" y="4663440"/>
            <a:ext cx="210312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SubProgram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983480"/>
            <a:ext cx="21031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tlCol="0" anchor="ctr"/>
          <a:lstStyle/>
          <a:p>
            <a:pPr algn="ctr">
              <a:spcAft>
                <a:spcPts val="200"/>
              </a:spcAft>
            </a:pPr>
            <a:r>
              <a:rPr sz="750">
                <a:solidFill>
                  <a:srgbClr val="F8FAFC"/>
                </a:solidFill>
                <a:latin typeface="Consolas"/>
              </a:rPr>
              <a:t>polyline: String
distanceKm: double
durationMin: int
status: Status</a:t>
            </a:r>
          </a:p>
          <a:p>
            <a:pPr>
              <a:spcAft>
                <a:spcPts val="200"/>
              </a:spcAft>
            </a:pPr>
            <a:r>
              <a:rPr sz="600">
                <a:solidFill>
                  <a:srgbClr val="94A3B8"/>
                </a:solidFill>
              </a:rPr>
              <a:t>-----------------------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0B981"/>
                </a:solidFill>
                <a:latin typeface="Consolas"/>
              </a:rPr>
              <a:t>addOrder()
assignDriver()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663440"/>
            <a:ext cx="201168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983480"/>
            <a:ext cx="20116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tlCol="0" anchor="ctr"/>
          <a:lstStyle/>
          <a:p>
            <a:pPr algn="ctr">
              <a:spcAft>
                <a:spcPts val="200"/>
              </a:spcAft>
            </a:pPr>
            <a:r>
              <a:rPr sz="750">
                <a:solidFill>
                  <a:srgbClr val="F8FAFC"/>
                </a:solidFill>
                <a:latin typeface="Consolas"/>
              </a:rPr>
              <a:t>orderNumber: String
weightKg: double
deliveryLocation: Point
status: OrderStatus</a:t>
            </a:r>
          </a:p>
          <a:p>
            <a:pPr>
              <a:spcAft>
                <a:spcPts val="200"/>
              </a:spcAft>
            </a:pPr>
            <a:r>
              <a:rPr sz="600">
                <a:solidFill>
                  <a:srgbClr val="94A3B8"/>
                </a:solidFill>
              </a:rPr>
              <a:t>-----------------------</a:t>
            </a:r>
          </a:p>
          <a:p>
            <a:pPr>
              <a:spcAft>
                <a:spcPts val="200"/>
              </a:spcAft>
            </a:pPr>
            <a:r>
              <a:rPr sz="750">
                <a:solidFill>
                  <a:srgbClr val="10B981"/>
                </a:solidFill>
                <a:latin typeface="Consolas"/>
              </a:rPr>
              <a:t>updateStatus()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011680"/>
            <a:ext cx="18288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60320" y="2011680"/>
            <a:ext cx="324612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06440" y="2651760"/>
            <a:ext cx="18288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06440" y="2011680"/>
            <a:ext cx="18288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06440" y="4114800"/>
            <a:ext cx="18288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74720" y="5120640"/>
            <a:ext cx="128016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0" y="5120640"/>
            <a:ext cx="118872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03.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Diagramme de Séquence : Planification &amp; Optimisation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1645920"/>
            <a:ext cx="137160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</a:rPr>
              <a:t>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011680"/>
            <a:ext cx="18288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0" y="1645920"/>
            <a:ext cx="137160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</a:rPr>
              <a:t>Backend (Spring)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011680"/>
            <a:ext cx="18288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137160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</a:rPr>
              <a:t>OR-Tools Adapter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011680"/>
            <a:ext cx="18288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15400" y="1645920"/>
            <a:ext cx="137160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</a:rPr>
              <a:t>Valhalla Adapter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2011680"/>
            <a:ext cx="18288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45920" y="2377440"/>
            <a:ext cx="246888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4041648" y="2304288"/>
            <a:ext cx="73152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2139696"/>
            <a:ext cx="24688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1. Demande d'optimisation (orders)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017520"/>
            <a:ext cx="27432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6784848" y="2944368"/>
            <a:ext cx="73152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2779776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2. optimizeDeliveries(orders, vehicles)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84848" y="3200400"/>
            <a:ext cx="146304" cy="54864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320040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Résolution du VRP
(Capacité, poids, temps)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931920"/>
            <a:ext cx="27432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Left Arrow 21"/>
          <p:cNvSpPr/>
          <p:nvPr/>
        </p:nvSpPr>
        <p:spPr>
          <a:xfrm>
            <a:off x="4114800" y="3858768"/>
            <a:ext cx="73152" cy="146304"/>
          </a:xfrm>
          <a:prstGeom prst="lef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0" y="3694176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3. Retourne les tournées optimisées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480560"/>
            <a:ext cx="54864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9528048" y="4407408"/>
            <a:ext cx="73152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0" y="4242816"/>
            <a:ext cx="5486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4. calculateOptimalRoute(subProgram)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8048" y="4572000"/>
            <a:ext cx="146304" cy="45720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457200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Calcul de l'itinéraire précis
et polylines routières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5212080"/>
            <a:ext cx="54864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/>
          <p:cNvSpPr/>
          <p:nvPr/>
        </p:nvSpPr>
        <p:spPr>
          <a:xfrm>
            <a:off x="4114800" y="5138928"/>
            <a:ext cx="73152" cy="146304"/>
          </a:xfrm>
          <a:prstGeom prst="lef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0" y="4974336"/>
            <a:ext cx="5486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5. Retourne polyline + distance + durée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5669280"/>
            <a:ext cx="246888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Left Arrow 32"/>
          <p:cNvSpPr/>
          <p:nvPr/>
        </p:nvSpPr>
        <p:spPr>
          <a:xfrm>
            <a:off x="1645920" y="5596128"/>
            <a:ext cx="73152" cy="146304"/>
          </a:xfrm>
          <a:prstGeom prst="lef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45920" y="5431536"/>
            <a:ext cx="24688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6. Affiche le programme optimisé (REST)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41648" y="5394960"/>
            <a:ext cx="14630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03.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Diagramme de Séquence : Suivi GPS &amp;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1645920"/>
            <a:ext cx="137160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</a:rPr>
              <a:t>Conducteur (App)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011680"/>
            <a:ext cx="18288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03320" y="1645920"/>
            <a:ext cx="137160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</a:rPr>
              <a:t>WebSocket Broker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18288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46520" y="1645920"/>
            <a:ext cx="137160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</a:rPr>
              <a:t>Location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011680"/>
            <a:ext cx="18288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89720" y="1645920"/>
            <a:ext cx="137160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</a:rPr>
              <a:t>Client (Destinataire)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2011680"/>
            <a:ext cx="18288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45920" y="2377440"/>
            <a:ext cx="27432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4315968" y="2304288"/>
            <a:ext cx="73152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2139696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1. Position GPS (lat, lng) [Toutes les 30s]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017520"/>
            <a:ext cx="27432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7059168" y="2944368"/>
            <a:ext cx="73152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2779776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2. Relai de la position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59168" y="3200400"/>
            <a:ext cx="146304" cy="128016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3200400"/>
            <a:ext cx="22860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Segoe UI"/>
              </a:rPr>
              <a:t>Traitement géospatial PostGIS :
- Calcul de la distance
- Vérification de la proximité (&lt; 1 km)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4663440"/>
            <a:ext cx="27432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9802368" y="4590288"/>
            <a:ext cx="73152" cy="146304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4425696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3. Broadcast filtré (throttled max 2 min)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5303520"/>
            <a:ext cx="27432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9802368" y="5230368"/>
            <a:ext cx="73152" cy="146304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5065776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4. Push FCM : 'Arrivée imminente' (&lt; 1 km)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5760720"/>
            <a:ext cx="54864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eft Arrow 27"/>
          <p:cNvSpPr/>
          <p:nvPr/>
        </p:nvSpPr>
        <p:spPr>
          <a:xfrm>
            <a:off x="1645920" y="5687568"/>
            <a:ext cx="73152" cy="146304"/>
          </a:xfrm>
          <a:prstGeom prst="lef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45920" y="5522976"/>
            <a:ext cx="5486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800" b="0">
                <a:solidFill>
                  <a:srgbClr val="F8FAFC"/>
                </a:solidFill>
                <a:latin typeface="Segoe UI"/>
              </a:rPr>
              <a:t>5. Acquittement &amp; Prochain 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04. ÉTUDE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Architecture Hexagonale (Clean Architecture)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91672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9144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Segoe UI"/>
              </a:rPr>
              <a:t>COUCHE PRÉSENTATION (REST Controllers &amp; WebSocket Handlers)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10515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Point d'entrée de l'application. Reçoit les requêtes HTTP/STOMP. Utilise les DTOs.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11091672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COUCHE APPLICATION (Services Implementations &amp; Mappers)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82112"/>
            <a:ext cx="10515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Orchestration des flux, implémentation des Use Cases métier, mapping des DTO/Entités via MapStruct.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11091672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9144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8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Segoe UI"/>
              </a:rPr>
              <a:t>COUCHE DOMAINE (Modèle JPA, Interfaces Services, Exceptions)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9392"/>
            <a:ext cx="10515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Logique métier pure, indépendante des frameworks tiers. Contient les règles de gestion des tournées.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1091672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91440" cy="914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047488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Segoe UI"/>
              </a:rPr>
              <a:t>COUCHE INFRASTRUCTURE (Persistence, Adapters OR-Tools &amp; Valhalla)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76672"/>
            <a:ext cx="10515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Détails techniques : accès base de données (JPA, PostGIS) et adaptateurs pour APIs externes.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04. ÉTUDE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Moteurs d'Intégration &amp; Sécurité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1129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11296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05409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Optimisation (OR-Tools)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054096" cy="159633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 err="1">
                <a:solidFill>
                  <a:srgbClr val="F8FAFC"/>
                </a:solidFill>
                <a:latin typeface="Segoe UI"/>
              </a:rPr>
              <a:t>Moteur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VRP (Vehicle Routing Problem)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développé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par Google.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Attribution des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commandes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sous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contraintes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physiques :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  -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Poids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max (kg) par véhicule.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  - Volume max (m²) par véhicule.</a:t>
            </a:r>
          </a:p>
          <a:p>
            <a:pPr>
              <a:spcAft>
                <a:spcPts val="400"/>
              </a:spcAft>
            </a:pPr>
            <a:r>
              <a:rPr sz="1100" dirty="0" err="1">
                <a:solidFill>
                  <a:srgbClr val="F8FAFC"/>
                </a:solidFill>
                <a:latin typeface="Segoe UI"/>
              </a:rPr>
              <a:t>Retourne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la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liste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des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commandes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optimisées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par sous-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programme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45920"/>
            <a:ext cx="351129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4256" y="1645920"/>
            <a:ext cx="3511296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2856" y="1920240"/>
            <a:ext cx="305409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Segoe UI"/>
              </a:rPr>
              <a:t>Calcul Routier (Valhalla)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468880"/>
            <a:ext cx="3054096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 dirty="0" err="1">
                <a:solidFill>
                  <a:srgbClr val="F8FAFC"/>
                </a:solidFill>
                <a:latin typeface="Segoe UI"/>
              </a:rPr>
              <a:t>Moteur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Open Source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d'itinéraires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00" dirty="0" err="1">
                <a:solidFill>
                  <a:srgbClr val="F8FAFC"/>
                </a:solidFill>
                <a:latin typeface="Segoe UI"/>
              </a:rPr>
              <a:t>Fournit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des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calculs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routiers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précis :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  - Matrice des distances pour alimenter OR-Tools.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  - Polylines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routières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encodées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pour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l'interface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cartographique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client.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F8FAFC"/>
                </a:solidFill>
                <a:latin typeface="Segoe UI"/>
              </a:rPr>
              <a:t>  -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Calcul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précis de la distance (km) et de la durée </a:t>
            </a:r>
            <a:r>
              <a:rPr sz="1100" dirty="0" err="1">
                <a:solidFill>
                  <a:srgbClr val="F8FAFC"/>
                </a:solidFill>
                <a:latin typeface="Segoe UI"/>
              </a:rPr>
              <a:t>estimée</a:t>
            </a:r>
            <a:r>
              <a:rPr sz="1100" dirty="0">
                <a:solidFill>
                  <a:srgbClr val="F8FAFC"/>
                </a:solidFill>
                <a:latin typeface="Segoe UI"/>
              </a:rPr>
              <a:t> (minutes).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45920"/>
            <a:ext cx="3511296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9872" y="1645920"/>
            <a:ext cx="3511296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1920240"/>
            <a:ext cx="3054096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Segoe UI"/>
              </a:rPr>
              <a:t>Sécurité JWT Personnalisée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468880"/>
            <a:ext cx="3054096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8FAFC"/>
                </a:solidFill>
                <a:latin typeface="Segoe UI"/>
              </a:rPr>
              <a:t>Spring Security stateless avec jetons signés.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8FAFC"/>
                </a:solidFill>
                <a:latin typeface="Segoe UI"/>
              </a:rPr>
              <a:t>Processus d'authentification :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8FAFC"/>
                </a:solidFill>
                <a:latin typeface="Segoe UI"/>
              </a:rPr>
              <a:t>  - Formulaire de connexion classique par mot de passe.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8FAFC"/>
                </a:solidFill>
                <a:latin typeface="Segoe UI"/>
              </a:rPr>
              <a:t>  - Hachage sécurisé avec BCryptPasswordEncoder.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8FAFC"/>
                </a:solidFill>
                <a:latin typeface="Segoe UI"/>
              </a:rPr>
              <a:t>  - Filtre d'authentification custom (JwtAuthenticationFilter).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8FAFC"/>
                </a:solidFill>
                <a:latin typeface="Segoe UI"/>
              </a:rPr>
              <a:t>  - Contrôle d'accès RBAC avec @EnableMethodSecurity.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05. RÉALISATION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Livrables Réalisés &amp; Structure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62179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217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669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Livrables Fournis (Backend)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6692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Structure de packages complète (Architecture Hexagonale).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8 Entités JPA et repositories : User, Manager, Driver, Client, Vehicle, Order, DeliveryProgram, SubProgram.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Requêtes spatiales PostGIS : Recherche de chauffeurs/commandes à proximité d'un point géographique.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Filtre de Sécurité JWT Custom &amp; configuration des rôles (RBAC).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Configuration WebSocket STOMP avec limitation de fréquence de broadcast.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Environnement Docker Compose multi-services prêt à l'emploi.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Documentation technique d'architecture et guides d'implémentation (plus de 500 pages cumulées).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645920"/>
            <a:ext cx="45720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40880" y="1645920"/>
            <a:ext cx="4572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920240"/>
            <a:ext cx="402336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Segoe UI"/>
              </a:rPr>
              <a:t>Environnement Technique (Docker)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80"/>
            <a:ext cx="402336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PostgreSQL 16 : Base de données relationnelle.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Extension PostGIS : Support des données et calculs géospatiaux (coordonnées GPS).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Valhalla (Port 8002) : Moteur de calcul d'itinéraires.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pgAdmin 4 (Port 5050) : Interface d'administration de la base de données.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Redis (Port 6379) : Cache de performances optionnel.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F8FAFC"/>
                </a:solidFill>
                <a:latin typeface="Segoe UI"/>
              </a:rPr>
              <a:t>Spring Boot 3.3.5 : Framework Java principal.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6B6D4"/>
                </a:solidFill>
                <a:latin typeface="Segoe UI"/>
              </a:rPr>
              <a:t>05. RÉALISATION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Segoe UI"/>
              </a:rPr>
              <a:t>Roadmap d'Implémentation &amp; Planification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0116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25880" y="14173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6B6D4"/>
                </a:solidFill>
              </a:rPr>
              <a:t>Phase 1 (S1-S2)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Services Applicatifs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91840"/>
            <a:ext cx="146304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Implémentation d'Auth, mappers, gestion des commandes DTOs.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3566160"/>
            <a:ext cx="18288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0" y="1645920"/>
            <a:ext cx="20116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20440" y="14173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Phase 2 (S3)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Intégrations Moteurs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291840"/>
            <a:ext cx="146304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60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Services d'intégration Google OR-Tools et Valhalla.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566160"/>
            <a:ext cx="18288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60" y="1645920"/>
            <a:ext cx="20116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15000" y="14173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6B6D4"/>
                </a:solidFill>
              </a:rPr>
              <a:t>Phase 3 (S4)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Temps Réel &amp; Push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291840"/>
            <a:ext cx="146304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74920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Tracking GPS WebSocket STOMP, notifications Firebase.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566160"/>
            <a:ext cx="18288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32320" y="1645920"/>
            <a:ext cx="20116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9560" y="14173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</a:rPr>
              <a:t>Phase 4 (S5)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API REST &amp; Handlers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291840"/>
            <a:ext cx="146304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69480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Contrôleurs, exception handlers globaux, tests unitaires initiaux.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3566160"/>
            <a:ext cx="18288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326880" y="1645920"/>
            <a:ext cx="20116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104120" y="14173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6B6D4"/>
                </a:solidFill>
              </a:rPr>
              <a:t>Phase 5 (S6-S8)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</a:rPr>
              <a:t>Tests &amp; Déploiement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3291840"/>
            <a:ext cx="146304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64040" y="347472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Tests d'intégration, couverture &gt;80%, CI/CD et production.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828800"/>
            <a:ext cx="137160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16459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</a:rPr>
              <a:t>CONCLUSION</a:t>
            </a:r>
          </a:p>
          <a:p>
            <a:r>
              <a:rPr sz="1600">
                <a:solidFill>
                  <a:srgbClr val="06B6D4"/>
                </a:solidFill>
              </a:rPr>
              <a:t>Avantages Clés de SmartFleet &amp; Questions/Réponses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926080"/>
            <a:ext cx="9601200" cy="1828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F8FAFC"/>
                </a:solidFill>
                <a:latin typeface="Segoe UI"/>
              </a:rPr>
              <a:t>Architecture modulaire et robuste : Séparation stricte du domaine garantissant une maintenance aisée.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F8FAFC"/>
                </a:solidFill>
                <a:latin typeface="Segoe UI"/>
              </a:rPr>
              <a:t>Automatisation et réduction des coûts : Optimisation VRP permettant un gain de carburant et de temps significatif.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F8FAFC"/>
                </a:solidFill>
                <a:latin typeface="Segoe UI"/>
              </a:rPr>
              <a:t>Expérience client enrichie : Traçabilité GPS temps réel et notifications push d'approche.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F8FAFC"/>
                </a:solidFill>
                <a:latin typeface="Segoe UI"/>
              </a:rPr>
              <a:t>Intégration d'outils standards leaders : PostgreSQL/PostGIS, Google OR-Tools et Valhalla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035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</a:rPr>
              <a:t>Merci pour votre attention.  Avez-vous 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1396</Words>
  <Application>Microsoft Office PowerPoint</Application>
  <PresentationFormat>Grand écran</PresentationFormat>
  <Paragraphs>188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ezzahhany yassine</cp:lastModifiedBy>
  <cp:revision>2</cp:revision>
  <dcterms:created xsi:type="dcterms:W3CDTF">2013-01-27T09:14:16Z</dcterms:created>
  <dcterms:modified xsi:type="dcterms:W3CDTF">2026-06-13T10:25:15Z</dcterms:modified>
  <cp:category/>
</cp:coreProperties>
</file>